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  <p:embeddedFont>
      <p:font typeface="Calibri (MS) Bold" charset="1" panose="020F0702030404030204"/>
      <p:regular r:id="rId21"/>
    </p:embeddedFont>
    <p:embeddedFont>
      <p:font typeface="Calibri (MS) Italics" charset="1" panose="020F05020202040A0204"/>
      <p:regular r:id="rId22"/>
    </p:embeddedFont>
    <p:embeddedFont>
      <p:font typeface="Calibri (MS)" charset="1" panose="020F05020202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1A2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40375" y="0"/>
            <a:ext cx="47625" cy="10287000"/>
            <a:chOff x="0" y="0"/>
            <a:chExt cx="737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78" cy="1593725"/>
            </a:xfrm>
            <a:custGeom>
              <a:avLst/>
              <a:gdLst/>
              <a:ahLst/>
              <a:cxnLst/>
              <a:rect r="r" b="b" t="t" l="l"/>
              <a:pathLst>
                <a:path h="1593725" w="7378">
                  <a:moveTo>
                    <a:pt x="0" y="0"/>
                  </a:moveTo>
                  <a:lnTo>
                    <a:pt x="7378" y="0"/>
                  </a:lnTo>
                  <a:lnTo>
                    <a:pt x="737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8625921" t="0" r="-19541920" b="4900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019175"/>
            <a:ext cx="17055727" cy="153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-244445" y="105727"/>
            <a:ext cx="18002814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Spectral clustering based on the graph p-laplacian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102564"/>
            <a:ext cx="7815039" cy="302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4"/>
              </a:lnSpc>
            </a:pPr>
            <a:r>
              <a:rPr lang="en-US" sz="41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MEMBERS:</a:t>
            </a:r>
          </a:p>
          <a:p>
            <a:pPr algn="l" marL="714936" indent="-357468" lvl="1">
              <a:lnSpc>
                <a:spcPts val="4635"/>
              </a:lnSpc>
              <a:buFont typeface="Arial"/>
              <a:buChar char="•"/>
            </a:pPr>
            <a:r>
              <a:rPr lang="en-US" sz="33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KOUSHIK:CB.SC.U4AIE24330</a:t>
            </a:r>
          </a:p>
          <a:p>
            <a:pPr algn="l" marL="714936" indent="-357468" lvl="1">
              <a:lnSpc>
                <a:spcPts val="4635"/>
              </a:lnSpc>
              <a:buFont typeface="Arial"/>
              <a:buChar char="•"/>
            </a:pPr>
            <a:r>
              <a:rPr lang="en-US" sz="33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ROHITH KUMAR:CB.SC.U4AIE24342</a:t>
            </a:r>
          </a:p>
          <a:p>
            <a:pPr algn="l" marL="714936" indent="-357468" lvl="1">
              <a:lnSpc>
                <a:spcPts val="4635"/>
              </a:lnSpc>
              <a:buFont typeface="Arial"/>
              <a:buChar char="•"/>
            </a:pPr>
            <a:r>
              <a:rPr lang="en-US" sz="33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ROHITH KANNA:CB.SC.U4AIE24349</a:t>
            </a:r>
          </a:p>
          <a:p>
            <a:pPr algn="l" marL="714936" indent="-357468" lvl="1">
              <a:lnSpc>
                <a:spcPts val="4635"/>
              </a:lnSpc>
              <a:buFont typeface="Arial"/>
              <a:buChar char="•"/>
            </a:pPr>
            <a:r>
              <a:rPr lang="en-US" sz="33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G.VISHAL:CB.SC.U4AIE24363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81A2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95350"/>
            <a:ext cx="7274793" cy="1243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20"/>
              </a:lnSpc>
            </a:pPr>
            <a:r>
              <a:rPr lang="en-US" sz="73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7631" y="2425226"/>
            <a:ext cx="17850369" cy="7441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1281" indent="-420641" lvl="1">
              <a:lnSpc>
                <a:spcPts val="5455"/>
              </a:lnSpc>
              <a:buFont typeface="Arial"/>
              <a:buChar char="•"/>
            </a:pP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Concept:</a:t>
            </a:r>
          </a:p>
          <a:p>
            <a:pPr algn="l" marL="1682563" indent="-560854" lvl="2">
              <a:lnSpc>
                <a:spcPts val="5455"/>
              </a:lnSpc>
              <a:buFont typeface="Arial"/>
              <a:buChar char="⚬"/>
            </a:pP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Clustering is t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reat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as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aph C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em: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iti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 da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b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et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ween group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ve mi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imal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weight.</a:t>
            </a:r>
          </a:p>
          <a:p>
            <a:pPr algn="l" marL="841281" indent="-420641" lvl="1">
              <a:lnSpc>
                <a:spcPts val="5455"/>
              </a:lnSpc>
              <a:buFont typeface="Arial"/>
              <a:buChar char="•"/>
            </a:pP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Standa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(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=2):</a:t>
            </a:r>
          </a:p>
          <a:p>
            <a:pPr algn="l" marL="1682563" indent="-560854" lvl="2">
              <a:lnSpc>
                <a:spcPts val="5455"/>
              </a:lnSpc>
              <a:buFont typeface="Arial"/>
              <a:buChar char="⚬"/>
            </a:pP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line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raph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Laplacian (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Spectral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lustering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).</a:t>
            </a:r>
          </a:p>
          <a:p>
            <a:pPr algn="l" marL="1682563" indent="-560854" lvl="2">
              <a:lnSpc>
                <a:spcPts val="5455"/>
              </a:lnSpc>
              <a:buFont typeface="Arial"/>
              <a:buChar char="⚬"/>
            </a:pP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Solves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"relaxed" continuo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probl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 to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approx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mat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the cut.</a:t>
            </a:r>
          </a:p>
          <a:p>
            <a:pPr algn="l" marL="841281" indent="-420641" lvl="1">
              <a:lnSpc>
                <a:spcPts val="5455"/>
              </a:lnSpc>
              <a:buFont typeface="Arial"/>
              <a:buChar char="•"/>
            </a:pP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Our Appro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 (p &lt; 2):</a:t>
            </a:r>
          </a:p>
          <a:p>
            <a:pPr algn="l" marL="1682563" indent="-560854" lvl="2">
              <a:lnSpc>
                <a:spcPts val="5455"/>
              </a:lnSpc>
              <a:buFont typeface="Arial"/>
              <a:buChar char="⚬"/>
            </a:pP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Rep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linear ope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ra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tor wit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Nonlinear p-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Laplacian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 marL="1682563" indent="-560854" lvl="2">
              <a:lnSpc>
                <a:spcPts val="5455"/>
              </a:lnSpc>
              <a:buFont typeface="Arial"/>
              <a:buChar char="⚬"/>
            </a:pP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oal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Demon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trat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l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ow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ering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 toward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eld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tighte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 m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cura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clus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 t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han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dard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8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method</a:t>
            </a:r>
          </a:p>
          <a:p>
            <a:pPr algn="l">
              <a:lnSpc>
                <a:spcPts val="473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1A2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9840" y="516255"/>
            <a:ext cx="7723361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050" y="2033452"/>
            <a:ext cx="17310231" cy="759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48" indent="-388574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Flaw ("Over-Smoothing"):</a:t>
            </a:r>
          </a:p>
          <a:p>
            <a:pPr algn="l" marL="1554295" indent="-518098" lvl="2">
              <a:lnSpc>
                <a:spcPts val="5039"/>
              </a:lnSpc>
              <a:buFont typeface="Arial"/>
              <a:buChar char="⚬"/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Stan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dard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method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(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=2) minimiz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squa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ed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diff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ces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1554295" indent="-518098" lvl="2">
              <a:lnSpc>
                <a:spcPts val="5039"/>
              </a:lnSpc>
              <a:buFont typeface="Arial"/>
              <a:buChar char="⚬"/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 p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enalty f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ces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ut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ion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chan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sl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ly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"fuzzy" bound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ies.</a:t>
            </a:r>
          </a:p>
          <a:p>
            <a:pPr algn="l" marL="777148" indent="-388574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nsequence:</a:t>
            </a:r>
          </a:p>
          <a:p>
            <a:pPr algn="l" marL="1554295" indent="-518098" lvl="2">
              <a:lnSpc>
                <a:spcPts val="5039"/>
              </a:lnSpc>
              <a:buFont typeface="Arial"/>
              <a:buChar char="⚬"/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no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 d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asets (l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 Tw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oo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ns),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 s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oothness cre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eg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ion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of Un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nty.</a:t>
            </a:r>
          </a:p>
          <a:p>
            <a:pPr algn="l" marL="1554295" indent="-518098" lvl="2">
              <a:lnSpc>
                <a:spcPts val="5039"/>
              </a:lnSpc>
              <a:buFont typeface="Arial"/>
              <a:buChar char="⚬"/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ul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H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gh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isc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ss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fica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tion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ra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(~25%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r).</a:t>
            </a:r>
          </a:p>
          <a:p>
            <a:pPr algn="l" marL="777148" indent="-388574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Our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ct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iv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1554295" indent="-518098" lvl="2">
              <a:lnSpc>
                <a:spcPts val="5039"/>
              </a:lnSpc>
              <a:buFont typeface="Arial"/>
              <a:buChar char="⚬"/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p-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Spectr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Cluster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 -&gt;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1)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for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ce t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eig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vector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behav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l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 a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ry sw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ch,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ov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ring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sharp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bou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nd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ev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noi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</a:t>
            </a: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503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666926" y="2650128"/>
            <a:ext cx="3205960" cy="629534"/>
          </a:xfrm>
          <a:custGeom>
            <a:avLst/>
            <a:gdLst/>
            <a:ahLst/>
            <a:cxnLst/>
            <a:rect r="r" b="b" t="t" l="l"/>
            <a:pathLst>
              <a:path h="629534" w="3205960">
                <a:moveTo>
                  <a:pt x="0" y="0"/>
                </a:moveTo>
                <a:lnTo>
                  <a:pt x="3205960" y="0"/>
                </a:lnTo>
                <a:lnTo>
                  <a:pt x="3205960" y="629534"/>
                </a:lnTo>
                <a:lnTo>
                  <a:pt x="0" y="629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1A2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86400" y="3587074"/>
            <a:ext cx="7315200" cy="1556426"/>
          </a:xfrm>
          <a:custGeom>
            <a:avLst/>
            <a:gdLst/>
            <a:ahLst/>
            <a:cxnLst/>
            <a:rect r="r" b="b" t="t" l="l"/>
            <a:pathLst>
              <a:path h="1556426" w="7315200">
                <a:moveTo>
                  <a:pt x="0" y="0"/>
                </a:moveTo>
                <a:lnTo>
                  <a:pt x="7315200" y="0"/>
                </a:lnTo>
                <a:lnTo>
                  <a:pt x="7315200" y="1556426"/>
                </a:lnTo>
                <a:lnTo>
                  <a:pt x="0" y="1556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25325" y="5076825"/>
            <a:ext cx="16437351" cy="237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3045" indent="-366523" lvl="1">
              <a:lnSpc>
                <a:spcPts val="4753"/>
              </a:lnSpc>
              <a:buFont typeface="Arial"/>
              <a:buChar char="•"/>
            </a:pPr>
            <a:r>
              <a:rPr lang="en-US" sz="33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</a:t>
            </a:r>
            <a:r>
              <a:rPr lang="en-US" sz="33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minimize this energy, we must use Gradient Descent</a:t>
            </a:r>
          </a:p>
          <a:p>
            <a:pPr algn="just" marL="1466091" indent="-488697" lvl="2">
              <a:lnSpc>
                <a:spcPts val="4753"/>
              </a:lnSpc>
              <a:buFont typeface="Arial"/>
              <a:buChar char="⚬"/>
            </a:pPr>
            <a:r>
              <a:rPr lang="en-US" sz="33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We calculate the derivative with respect to the difference                             </a:t>
            </a:r>
          </a:p>
          <a:p>
            <a:pPr algn="just" marL="1466091" indent="-488697" lvl="2">
              <a:lnSpc>
                <a:spcPts val="4753"/>
              </a:lnSpc>
              <a:buFont typeface="Arial"/>
              <a:buChar char="⚬"/>
            </a:pPr>
            <a:r>
              <a:rPr lang="en-US" sz="33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Using the Chain Rule of Calculus:</a:t>
            </a:r>
          </a:p>
          <a:p>
            <a:pPr algn="just">
              <a:lnSpc>
                <a:spcPts val="4753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499143" y="5793605"/>
            <a:ext cx="2760157" cy="506865"/>
          </a:xfrm>
          <a:custGeom>
            <a:avLst/>
            <a:gdLst/>
            <a:ahLst/>
            <a:cxnLst/>
            <a:rect r="r" b="b" t="t" l="l"/>
            <a:pathLst>
              <a:path h="506865" w="2760157">
                <a:moveTo>
                  <a:pt x="0" y="0"/>
                </a:moveTo>
                <a:lnTo>
                  <a:pt x="2760157" y="0"/>
                </a:lnTo>
                <a:lnTo>
                  <a:pt x="2760157" y="506865"/>
                </a:lnTo>
                <a:lnTo>
                  <a:pt x="0" y="506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01146" y="7597942"/>
            <a:ext cx="7315200" cy="1347537"/>
          </a:xfrm>
          <a:custGeom>
            <a:avLst/>
            <a:gdLst/>
            <a:ahLst/>
            <a:cxnLst/>
            <a:rect r="r" b="b" t="t" l="l"/>
            <a:pathLst>
              <a:path h="1347537" w="7315200">
                <a:moveTo>
                  <a:pt x="0" y="0"/>
                </a:moveTo>
                <a:lnTo>
                  <a:pt x="7315200" y="0"/>
                </a:lnTo>
                <a:lnTo>
                  <a:pt x="7315200" y="1347537"/>
                </a:lnTo>
                <a:lnTo>
                  <a:pt x="0" y="13475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742064"/>
            <a:ext cx="1682115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 Gradient Descent Formula (Why power is p-2?)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6666" y="2152967"/>
            <a:ext cx="146050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paper defines the "p-Laplacian Energy" we want to minimize 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1A2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21809" y="3125324"/>
            <a:ext cx="4444307" cy="1079332"/>
          </a:xfrm>
          <a:custGeom>
            <a:avLst/>
            <a:gdLst/>
            <a:ahLst/>
            <a:cxnLst/>
            <a:rect r="r" b="b" t="t" l="l"/>
            <a:pathLst>
              <a:path h="1079332" w="4444307">
                <a:moveTo>
                  <a:pt x="0" y="0"/>
                </a:moveTo>
                <a:lnTo>
                  <a:pt x="4444307" y="0"/>
                </a:lnTo>
                <a:lnTo>
                  <a:pt x="4444307" y="1079331"/>
                </a:lnTo>
                <a:lnTo>
                  <a:pt x="0" y="1079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89064" y="4733341"/>
            <a:ext cx="927705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Substituting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this back into the derivative: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726274" y="6338019"/>
            <a:ext cx="9773447" cy="1200248"/>
          </a:xfrm>
          <a:custGeom>
            <a:avLst/>
            <a:gdLst/>
            <a:ahLst/>
            <a:cxnLst/>
            <a:rect r="r" b="b" t="t" l="l"/>
            <a:pathLst>
              <a:path h="1200248" w="9773447">
                <a:moveTo>
                  <a:pt x="0" y="0"/>
                </a:moveTo>
                <a:lnTo>
                  <a:pt x="9773447" y="0"/>
                </a:lnTo>
                <a:lnTo>
                  <a:pt x="9773447" y="1200247"/>
                </a:lnTo>
                <a:lnTo>
                  <a:pt x="0" y="12002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5758" y="448494"/>
            <a:ext cx="1342213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Computers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handle multiplication better than the "sign" function.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65758" y="1898635"/>
            <a:ext cx="49560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We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use the identity: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1A2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00697" cy="1450860"/>
            <a:chOff x="0" y="0"/>
            <a:chExt cx="24417871" cy="1935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1A2C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B6EA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82880" y="406908"/>
            <a:ext cx="17190720" cy="1243584"/>
            <a:chOff x="0" y="0"/>
            <a:chExt cx="22920960" cy="16581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1658112"/>
            </a:xfrm>
            <a:custGeom>
              <a:avLst/>
              <a:gdLst/>
              <a:ahLst/>
              <a:cxnLst/>
              <a:rect r="r" b="b" t="t" l="l"/>
              <a:pathLst>
                <a:path h="165811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81A2C8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22920960" cy="1753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Definitions: Cuts &amp; Laplacians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7200" y="1609344"/>
            <a:ext cx="8595360" cy="694944"/>
            <a:chOff x="0" y="0"/>
            <a:chExt cx="11460480" cy="926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60480" cy="926592"/>
            </a:xfrm>
            <a:custGeom>
              <a:avLst/>
              <a:gdLst/>
              <a:ahLst/>
              <a:cxnLst/>
              <a:rect r="r" b="b" t="t" l="l"/>
              <a:pathLst>
                <a:path h="926592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999" r="0" b="-19099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1460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Types of Graph Cuts  (The Goal)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7675" y="2313051"/>
            <a:ext cx="8248650" cy="19050"/>
            <a:chOff x="0" y="0"/>
            <a:chExt cx="10998200" cy="25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0"/>
              <a:ext cx="10972800" cy="25400"/>
            </a:xfrm>
            <a:custGeom>
              <a:avLst/>
              <a:gdLst/>
              <a:ahLst/>
              <a:cxnLst/>
              <a:rect r="r" b="b" t="t" l="l"/>
              <a:pathLst>
                <a:path h="25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8DE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8640" y="2432304"/>
            <a:ext cx="8229600" cy="548640"/>
            <a:chOff x="0" y="0"/>
            <a:chExt cx="109728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Ratio Cut  (p = 2)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48640" y="2980944"/>
            <a:ext cx="8046720" cy="950976"/>
            <a:chOff x="0" y="0"/>
            <a:chExt cx="10728960" cy="1267968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07289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515" r="0" b="-1251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48640" y="3950208"/>
            <a:ext cx="8229600" cy="512064"/>
            <a:chOff x="0" y="0"/>
            <a:chExt cx="10972800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72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D8DE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Goal: minimize cut / |nodes|.  Drawback: may isolate outliers.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48640" y="4572000"/>
            <a:ext cx="8229600" cy="548640"/>
            <a:chOff x="0" y="0"/>
            <a:chExt cx="109728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Normalized Cut  (p = 2)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48640" y="5120640"/>
            <a:ext cx="8046720" cy="950976"/>
            <a:chOff x="0" y="0"/>
            <a:chExt cx="10728960" cy="1267968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07289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515" r="0" b="-1251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48640" y="6089904"/>
            <a:ext cx="8229600" cy="512064"/>
            <a:chOff x="0" y="0"/>
            <a:chExt cx="1097280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972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D8DE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Goal: minimize cut / vol(A).  Balances cluster density — used in image segmentation.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8640" y="6729984"/>
            <a:ext cx="8229600" cy="548640"/>
            <a:chOff x="0" y="0"/>
            <a:chExt cx="109728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Cheeger Cuts  (p → 1)  — The Ideal Cut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48640" y="7278624"/>
            <a:ext cx="6949440" cy="950976"/>
            <a:chOff x="0" y="0"/>
            <a:chExt cx="9265920" cy="1267968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92659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990" r="0" b="-399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48640" y="8247888"/>
            <a:ext cx="8229600" cy="402336"/>
            <a:chOff x="0" y="0"/>
            <a:chExt cx="10972800" cy="5364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9728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D8DE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RCC — relative to size of smaller partition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48640" y="8650224"/>
            <a:ext cx="6949440" cy="950976"/>
            <a:chOff x="0" y="0"/>
            <a:chExt cx="9265920" cy="1267968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92659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990" r="0" b="-399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48640" y="9619488"/>
            <a:ext cx="8229600" cy="402336"/>
            <a:chOff x="0" y="0"/>
            <a:chExt cx="10972800" cy="5364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9728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D8DE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NCC — relative to volume of smaller partition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131303" y="1541783"/>
            <a:ext cx="25403" cy="8657339"/>
            <a:chOff x="0" y="0"/>
            <a:chExt cx="33871" cy="1154311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16891"/>
              <a:ext cx="33909" cy="11509248"/>
            </a:xfrm>
            <a:custGeom>
              <a:avLst/>
              <a:gdLst/>
              <a:ahLst/>
              <a:cxnLst/>
              <a:rect r="r" b="b" t="t" l="l"/>
              <a:pathLst>
                <a:path h="11509248" w="33909">
                  <a:moveTo>
                    <a:pt x="33909" y="0"/>
                  </a:moveTo>
                  <a:lnTo>
                    <a:pt x="33909" y="11509248"/>
                  </a:lnTo>
                  <a:lnTo>
                    <a:pt x="0" y="115092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DE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418320" y="1609344"/>
            <a:ext cx="8595360" cy="694944"/>
            <a:chOff x="0" y="0"/>
            <a:chExt cx="11460480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460480" cy="926592"/>
            </a:xfrm>
            <a:custGeom>
              <a:avLst/>
              <a:gdLst/>
              <a:ahLst/>
              <a:cxnLst/>
              <a:rect r="r" b="b" t="t" l="l"/>
              <a:pathLst>
                <a:path h="926592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999" r="0" b="-19099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1460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Mathematical Operators  (The Method)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408795" y="2313051"/>
            <a:ext cx="8248650" cy="19050"/>
            <a:chOff x="0" y="0"/>
            <a:chExt cx="10998200" cy="25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2700" y="0"/>
              <a:ext cx="10972800" cy="25400"/>
            </a:xfrm>
            <a:custGeom>
              <a:avLst/>
              <a:gdLst/>
              <a:ahLst/>
              <a:cxnLst/>
              <a:rect r="r" b="b" t="t" l="l"/>
              <a:pathLst>
                <a:path h="25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8DEF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509760" y="2432304"/>
            <a:ext cx="8229600" cy="548640"/>
            <a:chOff x="0" y="0"/>
            <a:chExt cx="1097280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Standard Graph Laplacian  (L)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418320" y="2980944"/>
            <a:ext cx="8412480" cy="950976"/>
            <a:chOff x="0" y="0"/>
            <a:chExt cx="11216640" cy="1267968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11216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356" r="0" b="-15356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9601200" y="4021455"/>
            <a:ext cx="8138160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Linear operator used in standard Spectral Clustering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Minimizes Mean Squared Error  →  smooth transitions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 i="true">
                <a:solidFill>
                  <a:srgbClr val="D8DEF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Result: blurry boundaries in noisy or complex data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509760" y="5998464"/>
            <a:ext cx="8229600" cy="548640"/>
            <a:chOff x="0" y="0"/>
            <a:chExt cx="1097280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 p-Laplacian  (Δₚ)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418320" y="6583680"/>
            <a:ext cx="8503920" cy="950976"/>
            <a:chOff x="0" y="0"/>
            <a:chExt cx="11338560" cy="1267968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113385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8034" r="0" b="-8034"/>
              </a:stretch>
            </a:blip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9601200" y="7642479"/>
            <a:ext cx="8138160" cy="242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Nonlinear generalisation of the Graph Laplacian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Minimises Total Variation  →  sharp jumps at boundaries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As p → 1: eigenvector converges to a discrete Step Function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 i="true">
                <a:solidFill>
                  <a:srgbClr val="D8DEF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This is the exact solution to the Cheeger Cut problem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1A2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82351" y="2255264"/>
            <a:ext cx="17532824" cy="67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8"/>
              </a:lnSpc>
            </a:pP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Graph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str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uct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(Gauss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 Kernel)</a:t>
            </a:r>
          </a:p>
          <a:p>
            <a:pPr algn="l">
              <a:lnSpc>
                <a:spcPts val="4548"/>
              </a:lnSpc>
            </a:pP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stea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of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just "c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nnect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ing points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," we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all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efin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ffi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ity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matrix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W:</a:t>
            </a:r>
          </a:p>
          <a:p>
            <a:pPr algn="l" marL="701498" indent="-350749" lvl="1">
              <a:lnSpc>
                <a:spcPts val="4548"/>
              </a:lnSpc>
              <a:buFont typeface="Arial"/>
              <a:buChar char="•"/>
            </a:pP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Const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uct a k-n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rest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neighbor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graph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(k=10).</a:t>
            </a:r>
          </a:p>
          <a:p>
            <a:pPr algn="l" marL="701498" indent="-350749" lvl="1">
              <a:lnSpc>
                <a:spcPts val="4548"/>
              </a:lnSpc>
              <a:buFont typeface="Arial"/>
              <a:buChar char="•"/>
            </a:pP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edge weigh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using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Ga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uss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ian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rn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>
              <a:lnSpc>
                <a:spcPts val="4548"/>
              </a:lnSpc>
            </a:pPr>
          </a:p>
          <a:p>
            <a:pPr algn="l">
              <a:lnSpc>
                <a:spcPts val="4548"/>
              </a:lnSpc>
            </a:pPr>
          </a:p>
          <a:p>
            <a:pPr algn="l">
              <a:lnSpc>
                <a:spcPts val="4548"/>
              </a:lnSpc>
            </a:pP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2.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Initi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iz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 </a:t>
            </a:r>
          </a:p>
          <a:p>
            <a:pPr algn="l" marL="701498" indent="-350749" lvl="1">
              <a:lnSpc>
                <a:spcPts val="4548"/>
              </a:lnSpc>
              <a:buFont typeface="Arial"/>
              <a:buChar char="•"/>
            </a:pP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optim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za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tion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of the p-R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eigh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quotient i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non-convex.</a:t>
            </a:r>
          </a:p>
          <a:p>
            <a:pPr algn="l" marL="701498" indent="-350749" lvl="1">
              <a:lnSpc>
                <a:spcPts val="4548"/>
              </a:lnSpc>
              <a:buFont typeface="Arial"/>
              <a:buChar char="•"/>
            </a:pP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avoid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oo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loc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minima, we so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ve the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andard Gen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zed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Eigenval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ue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Problem (Lv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= l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ambda*D*v) for p=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first.</a:t>
            </a:r>
          </a:p>
          <a:p>
            <a:pPr algn="l" marL="701498" indent="-350749" lvl="1">
              <a:lnSpc>
                <a:spcPts val="4548"/>
              </a:lnSpc>
              <a:buFont typeface="Arial"/>
              <a:buChar char="•"/>
            </a:pP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lu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ion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v2 s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rv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 a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 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"Warm S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art"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initi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iz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 the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next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3841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486400" y="4804833"/>
            <a:ext cx="7315200" cy="677333"/>
          </a:xfrm>
          <a:custGeom>
            <a:avLst/>
            <a:gdLst/>
            <a:ahLst/>
            <a:cxnLst/>
            <a:rect r="r" b="b" t="t" l="l"/>
            <a:pathLst>
              <a:path h="677333" w="7315200">
                <a:moveTo>
                  <a:pt x="0" y="0"/>
                </a:moveTo>
                <a:lnTo>
                  <a:pt x="7315200" y="0"/>
                </a:lnTo>
                <a:lnTo>
                  <a:pt x="7315200" y="677334"/>
                </a:lnTo>
                <a:lnTo>
                  <a:pt x="0" y="677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4002" y="780808"/>
            <a:ext cx="4473773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1A2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72826" y="1410058"/>
            <a:ext cx="17532824" cy="791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8"/>
              </a:lnSpc>
            </a:pP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3. The Homotopy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tin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uat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 Str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ategy (Outer Loop)</a:t>
            </a:r>
          </a:p>
          <a:p>
            <a:pPr algn="l" marL="701498" indent="-350749" lvl="1">
              <a:lnSpc>
                <a:spcPts val="4548"/>
              </a:lnSpc>
              <a:buFont typeface="Arial"/>
              <a:buChar char="•"/>
            </a:pP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We do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 solve for p=1.2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directly.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We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 a c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ntinuation method:</a:t>
            </a:r>
          </a:p>
          <a:p>
            <a:pPr algn="l" marL="1402995" indent="-467665" lvl="2">
              <a:lnSpc>
                <a:spcPts val="4548"/>
              </a:lnSpc>
              <a:buFont typeface="Arial"/>
              <a:buChar char="⚬"/>
            </a:pP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Seque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nce: p ={1.8, 1.6, 1.4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 1.2}.</a:t>
            </a:r>
          </a:p>
          <a:p>
            <a:pPr algn="l" marL="1402995" indent="-467665" lvl="2">
              <a:lnSpc>
                <a:spcPts val="4548"/>
              </a:lnSpc>
              <a:buFont typeface="Arial"/>
              <a:buChar char="⚬"/>
            </a:pP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Logic: The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optim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 solution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 p_k is us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ed as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itial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g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ess f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p_{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k+1}. This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guides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solver smoothly tow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ard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the global mi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nimum.</a:t>
            </a:r>
          </a:p>
          <a:p>
            <a:pPr algn="l">
              <a:lnSpc>
                <a:spcPts val="4548"/>
              </a:lnSpc>
            </a:pP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Grad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nt D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escent Optim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za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tion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(Inner Loop)</a:t>
            </a:r>
          </a:p>
          <a:p>
            <a:pPr algn="l" marL="1402995" indent="-467665" lvl="2">
              <a:lnSpc>
                <a:spcPts val="4548"/>
              </a:lnSpc>
              <a:buFont typeface="Arial"/>
              <a:buChar char="⚬"/>
            </a:pP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 each p, we minimize the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unctional F_p(f) using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steepest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descent:</a:t>
            </a:r>
          </a:p>
          <a:p>
            <a:pPr algn="l">
              <a:lnSpc>
                <a:spcPts val="4548"/>
              </a:lnSpc>
            </a:pPr>
          </a:p>
          <a:p>
            <a:pPr algn="l">
              <a:lnSpc>
                <a:spcPts val="4548"/>
              </a:lnSpc>
            </a:pPr>
          </a:p>
          <a:p>
            <a:pPr algn="l" marL="1402995" indent="-467665" lvl="2">
              <a:lnSpc>
                <a:spcPts val="4548"/>
              </a:lnSpc>
              <a:buFont typeface="Arial"/>
              <a:buChar char="⚬"/>
            </a:pP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gradient is computed using the p-Laplacian operator d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eriv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ed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Section 3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of the paper.</a:t>
            </a:r>
          </a:p>
          <a:p>
            <a:pPr algn="l" marL="701498" indent="-350749" lvl="1">
              <a:lnSpc>
                <a:spcPts val="4548"/>
              </a:lnSpc>
              <a:buFont typeface="Arial"/>
              <a:buChar char="•"/>
            </a:pP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orma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liza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ion: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Afte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 ev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ery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step, we proj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ect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 b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ack on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u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nit sphere to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satis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fy the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norm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con</a:t>
            </a:r>
            <a:r>
              <a:rPr lang="en-US" sz="32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straint.</a:t>
            </a:r>
          </a:p>
          <a:p>
            <a:pPr algn="l">
              <a:lnSpc>
                <a:spcPts val="3841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966664" y="5740378"/>
            <a:ext cx="7315200" cy="639580"/>
          </a:xfrm>
          <a:custGeom>
            <a:avLst/>
            <a:gdLst/>
            <a:ahLst/>
            <a:cxnLst/>
            <a:rect r="r" b="b" t="t" l="l"/>
            <a:pathLst>
              <a:path h="639580" w="7315200">
                <a:moveTo>
                  <a:pt x="0" y="0"/>
                </a:moveTo>
                <a:lnTo>
                  <a:pt x="7315200" y="0"/>
                </a:lnTo>
                <a:lnTo>
                  <a:pt x="7315200" y="639580"/>
                </a:lnTo>
                <a:lnTo>
                  <a:pt x="0" y="639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60256" y="8525585"/>
            <a:ext cx="4528016" cy="1465431"/>
          </a:xfrm>
          <a:custGeom>
            <a:avLst/>
            <a:gdLst/>
            <a:ahLst/>
            <a:cxnLst/>
            <a:rect r="r" b="b" t="t" l="l"/>
            <a:pathLst>
              <a:path h="1465431" w="4528016">
                <a:moveTo>
                  <a:pt x="0" y="0"/>
                </a:moveTo>
                <a:lnTo>
                  <a:pt x="4528016" y="0"/>
                </a:lnTo>
                <a:lnTo>
                  <a:pt x="4528016" y="1465430"/>
                </a:lnTo>
                <a:lnTo>
                  <a:pt x="0" y="1465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1A2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88056" y="5942597"/>
            <a:ext cx="11301259" cy="3432757"/>
          </a:xfrm>
          <a:custGeom>
            <a:avLst/>
            <a:gdLst/>
            <a:ahLst/>
            <a:cxnLst/>
            <a:rect r="r" b="b" t="t" l="l"/>
            <a:pathLst>
              <a:path h="3432757" w="11301259">
                <a:moveTo>
                  <a:pt x="0" y="0"/>
                </a:moveTo>
                <a:lnTo>
                  <a:pt x="11301259" y="0"/>
                </a:lnTo>
                <a:lnTo>
                  <a:pt x="11301259" y="3432758"/>
                </a:lnTo>
                <a:lnTo>
                  <a:pt x="0" y="3432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8070" y="537527"/>
            <a:ext cx="1480385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1: Non-Convex Separation (Two Moons)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8070" y="1811448"/>
            <a:ext cx="17041230" cy="369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3531" indent="-251765" lvl="1">
              <a:lnSpc>
                <a:spcPts val="3265"/>
              </a:lnSpc>
              <a:buFont typeface="Arial"/>
              <a:buChar char="•"/>
            </a:pPr>
            <a:r>
              <a:rPr lang="en-US" sz="233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Objective: Test the algorithm on "interleaving" data where simple linear cuts fail.</a:t>
            </a:r>
          </a:p>
          <a:p>
            <a:pPr algn="l" marL="503531" indent="-251765" lvl="1">
              <a:lnSpc>
                <a:spcPts val="3265"/>
              </a:lnSpc>
              <a:buFont typeface="Arial"/>
              <a:buChar char="•"/>
            </a:pPr>
            <a:r>
              <a:rPr lang="en-US" sz="233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Visual Analysis:</a:t>
            </a:r>
          </a:p>
          <a:p>
            <a:pPr algn="l" marL="1007062" indent="-335687" lvl="2">
              <a:lnSpc>
                <a:spcPts val="3265"/>
              </a:lnSpc>
              <a:buFont typeface="Arial"/>
              <a:buChar char="⚬"/>
            </a:pPr>
            <a:r>
              <a:rPr lang="en-US" sz="233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Phase 1 (p=2, Middle Plot): The colors represent a Gradient (Dark Blue to Orange to Red). This "blur" indicates that the standard method is uncertain about points in the noisy gap.</a:t>
            </a:r>
          </a:p>
          <a:p>
            <a:pPr algn="l" marL="1007062" indent="-335687" lvl="2">
              <a:lnSpc>
                <a:spcPts val="3265"/>
              </a:lnSpc>
              <a:buFont typeface="Arial"/>
              <a:buChar char="⚬"/>
            </a:pPr>
            <a:r>
              <a:rPr lang="en-US" sz="233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Final Output (p=1.2, Right Plot): The gradient is replaced by sharp Cyan vs. Red. The "bridge" between the moons is cut cleanly.</a:t>
            </a:r>
          </a:p>
          <a:p>
            <a:pPr algn="l" marL="503531" indent="-251765" lvl="1">
              <a:lnSpc>
                <a:spcPts val="3265"/>
              </a:lnSpc>
              <a:buFont typeface="Arial"/>
              <a:buChar char="•"/>
            </a:pPr>
            <a:r>
              <a:rPr lang="en-US" sz="233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Metric: 97.20% Accuracy.</a:t>
            </a:r>
          </a:p>
          <a:p>
            <a:pPr algn="l" marL="503531" indent="-251765" lvl="1">
              <a:lnSpc>
                <a:spcPts val="3265"/>
              </a:lnSpc>
              <a:buFont typeface="Arial"/>
              <a:buChar char="•"/>
            </a:pPr>
            <a:r>
              <a:rPr lang="en-US" sz="233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Verdict: The algorithm successfully ignored the noise connecting the two moons and recovered the true non-linear geometry.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1A2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0474" y="1382128"/>
            <a:ext cx="18107526" cy="483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6732" indent="-298366" lvl="1">
              <a:lnSpc>
                <a:spcPts val="3869"/>
              </a:lnSpc>
              <a:buFont typeface="Arial"/>
              <a:buChar char="•"/>
            </a:pPr>
            <a:r>
              <a:rPr lang="en-US" sz="27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Objective: Isolate an "Inner Core" from an "Outer Ring" (Topological Clustering).</a:t>
            </a:r>
          </a:p>
          <a:p>
            <a:pPr algn="l" marL="596732" indent="-298366" lvl="1">
              <a:lnSpc>
                <a:spcPts val="3869"/>
              </a:lnSpc>
              <a:buFont typeface="Arial"/>
              <a:buChar char="•"/>
            </a:pPr>
            <a:r>
              <a:rPr lang="en-US" sz="27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Visual Analysis:</a:t>
            </a:r>
          </a:p>
          <a:p>
            <a:pPr algn="l" marL="1193465" indent="-397822" lvl="2">
              <a:lnSpc>
                <a:spcPts val="3869"/>
              </a:lnSpc>
              <a:buFont typeface="Arial"/>
              <a:buChar char="⚬"/>
            </a:pPr>
            <a:r>
              <a:rPr lang="en-US" sz="27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Challenge: Standard K-Means would cut this dataset in half (left vs. right).</a:t>
            </a:r>
          </a:p>
          <a:p>
            <a:pPr algn="l" marL="1193465" indent="-397822" lvl="2">
              <a:lnSpc>
                <a:spcPts val="3869"/>
              </a:lnSpc>
              <a:buFont typeface="Arial"/>
              <a:buChar char="⚬"/>
            </a:pPr>
            <a:r>
              <a:rPr lang="en-US" sz="27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Phase 1 (p=2, Middle Plot): Shows separation, but the colors are "dim," indicating continuous values that require manual thresholding.</a:t>
            </a:r>
          </a:p>
          <a:p>
            <a:pPr algn="l" marL="1193465" indent="-397822" lvl="2">
              <a:lnSpc>
                <a:spcPts val="3869"/>
              </a:lnSpc>
              <a:buFont typeface="Arial"/>
              <a:buChar char="⚬"/>
            </a:pPr>
            <a:r>
              <a:rPr lang="en-US" sz="27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Final Output (p=1.2, Right Plot): A perfect Binary Split. The Inner Circle is solid Cyan and the Outer Ring is solid Red with no overlap.</a:t>
            </a:r>
          </a:p>
          <a:p>
            <a:pPr algn="l" marL="596732" indent="-298366" lvl="1">
              <a:lnSpc>
                <a:spcPts val="3869"/>
              </a:lnSpc>
              <a:buFont typeface="Arial"/>
              <a:buChar char="•"/>
            </a:pPr>
            <a:r>
              <a:rPr lang="en-US" sz="27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Metric: 100.00% Accuracy.</a:t>
            </a:r>
          </a:p>
          <a:p>
            <a:pPr algn="l" marL="596732" indent="-298366" lvl="1">
              <a:lnSpc>
                <a:spcPts val="3869"/>
              </a:lnSpc>
              <a:buFont typeface="Arial"/>
              <a:buChar char="•"/>
            </a:pPr>
            <a:r>
              <a:rPr lang="en-US" sz="27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Verdict: The p-Laplacian handles complex topological shapes perfectly, achieving a clear boundary where linear methods fail.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871739" y="6379224"/>
            <a:ext cx="11301259" cy="3545770"/>
          </a:xfrm>
          <a:custGeom>
            <a:avLst/>
            <a:gdLst/>
            <a:ahLst/>
            <a:cxnLst/>
            <a:rect r="r" b="b" t="t" l="l"/>
            <a:pathLst>
              <a:path h="3545770" w="11301259">
                <a:moveTo>
                  <a:pt x="0" y="0"/>
                </a:moveTo>
                <a:lnTo>
                  <a:pt x="11301259" y="0"/>
                </a:lnTo>
                <a:lnTo>
                  <a:pt x="11301259" y="3545770"/>
                </a:lnTo>
                <a:lnTo>
                  <a:pt x="0" y="3545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4528" y="529323"/>
            <a:ext cx="13951446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2: Topological Separation (Concentric Circles)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1A2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11581" y="5696041"/>
            <a:ext cx="11301259" cy="4110833"/>
          </a:xfrm>
          <a:custGeom>
            <a:avLst/>
            <a:gdLst/>
            <a:ahLst/>
            <a:cxnLst/>
            <a:rect r="r" b="b" t="t" l="l"/>
            <a:pathLst>
              <a:path h="4110833" w="11301259">
                <a:moveTo>
                  <a:pt x="0" y="0"/>
                </a:moveTo>
                <a:lnTo>
                  <a:pt x="11301259" y="0"/>
                </a:lnTo>
                <a:lnTo>
                  <a:pt x="11301259" y="4110833"/>
                </a:lnTo>
                <a:lnTo>
                  <a:pt x="0" y="4110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71074"/>
            <a:ext cx="15654108" cy="452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322" indent="-253161" lvl="1">
              <a:lnSpc>
                <a:spcPts val="3283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Objective: To test the algorithm on highly non-convex, winding structures where simple distance metrics fail.</a:t>
            </a:r>
          </a:p>
          <a:p>
            <a:pPr algn="l" marL="506322" indent="-253161" lvl="1">
              <a:lnSpc>
                <a:spcPts val="3283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Challenge: Two spirals are intertwined. A standard algorithm (using Euclidean distance) gets confused because points in the Red arm are spatially close to the Blue arm.</a:t>
            </a:r>
          </a:p>
          <a:p>
            <a:pPr algn="l" marL="506322" indent="-253161" lvl="1">
              <a:lnSpc>
                <a:spcPts val="3283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Visual Analysis:</a:t>
            </a:r>
          </a:p>
          <a:p>
            <a:pPr algn="l" marL="506322" indent="-253161" lvl="1">
              <a:lnSpc>
                <a:spcPts val="3283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Standard Spectral (p=2): FAILS. The algorithm cuts the shape vertically (Left vs. Right). It fails to see that the points form a continuous curve, mixing the two arms together.</a:t>
            </a:r>
          </a:p>
          <a:p>
            <a:pPr algn="l" marL="506322" indent="-253161" lvl="1">
              <a:lnSpc>
                <a:spcPts val="3283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Our Method (p=1.2): SUCCEEDS. The algorithm "unwinds" the manifold. It perfectly follows the chain of data points, identifying two distinct arms (Inner vs. Outer) with 100% separation.</a:t>
            </a:r>
          </a:p>
          <a:p>
            <a:pPr algn="l" marL="506322" indent="-253161" lvl="1">
              <a:lnSpc>
                <a:spcPts val="3283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Verdict: The p-Laplacian correctly solves the "Connectivity" problem, whereas the standard Laplacian only solves the "Cut" problem.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3890" y="257175"/>
            <a:ext cx="1355169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</a:t>
            </a:r>
            <a:r>
              <a:rPr lang="en-US" b="true" sz="4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3: Complex Topology (Intertwined Spirals)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1A2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6805" y="1712817"/>
            <a:ext cx="17259300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Objective: To validate our algorithm against the original research paper (Bühler &amp; Hein, 2009).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Dataset: "Two Norm" (20-Dimensional Gaussian Mixture).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Parameters: sigma = 2.8, k = 15, Shift = 2.00.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Challenge: High-dimensional data is sparse and hard to cluster. We aimed to match the paper's specific error rate.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Results Table: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2975811" y="6338319"/>
          <a:ext cx="7543800" cy="1885950"/>
        </p:xfrm>
        <a:graphic>
          <a:graphicData uri="http://schemas.openxmlformats.org/presentationml/2006/ole">
            <p:oleObj imgW="9042400" imgH="3390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636844"/>
            <a:ext cx="12399545" cy="697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8"/>
              </a:lnSpc>
            </a:pPr>
            <a:r>
              <a:rPr lang="en-US" sz="402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4</a:t>
            </a:r>
            <a:r>
              <a:rPr lang="en-US" b="true" sz="402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- Statistical Replication (The Benchmark)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771088"/>
            <a:ext cx="172593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Significance: We achieved a result that is mathematically indistinguishable from the published benchmark (&lt;0.1% difference).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81A2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900686"/>
            <a:ext cx="18363585" cy="5869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8399" indent="-459200" lvl="1">
              <a:lnSpc>
                <a:spcPts val="5104"/>
              </a:lnSpc>
              <a:buFont typeface="Arial"/>
              <a:buChar char="•"/>
            </a:pPr>
            <a:r>
              <a:rPr lang="en-US" sz="425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Solved "Over-Smoothing": We demonstrated that the standard Laplacian (p=2) blurs boundaries, while the p-Laplacian (p=1.2) sharpens them.</a:t>
            </a:r>
          </a:p>
          <a:p>
            <a:pPr algn="l" marL="918399" indent="-459200" lvl="1">
              <a:lnSpc>
                <a:spcPts val="5104"/>
              </a:lnSpc>
              <a:buFont typeface="Arial"/>
              <a:buChar char="•"/>
            </a:pPr>
            <a:r>
              <a:rPr lang="en-US" sz="425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Achieved Perfect Separation: We attained 100% Accuracy on topological datasets (Circles) where standard linear methods failed.</a:t>
            </a:r>
          </a:p>
          <a:p>
            <a:pPr algn="l" marL="918399" indent="-459200" lvl="1">
              <a:lnSpc>
                <a:spcPts val="5104"/>
              </a:lnSpc>
              <a:buFont typeface="Arial"/>
              <a:buChar char="•"/>
            </a:pPr>
            <a:r>
              <a:rPr lang="en-US" sz="425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Verified Research: We successfully replicated the high-dimensional benchmarks of the original research paper, proving our implementation is robust.</a:t>
            </a:r>
          </a:p>
          <a:p>
            <a:pPr algn="l" marL="918399" indent="-459200" lvl="1">
              <a:lnSpc>
                <a:spcPts val="5104"/>
              </a:lnSpc>
              <a:buFont typeface="Arial"/>
              <a:buChar char="•"/>
            </a:pPr>
            <a:r>
              <a:rPr lang="en-US" sz="425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Final Thought: The Graph p-Laplacian is not just a theoretical concept; it is a practical, powerful tool for solving "hard" clustering problems where standard methods fail.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3643" y="537527"/>
            <a:ext cx="380650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DAHDHqs7rc4</dc:identifier>
  <dcterms:modified xsi:type="dcterms:W3CDTF">2011-08-01T06:04:30Z</dcterms:modified>
  <cp:revision>1</cp:revision>
  <dc:title>Result 2 - Theoretical Validation (The "Step Function") Objective: To verify the mathematical claim that the $p$-Laplacian eigenvector converges to a discrete Indicator Function (a sharp binary switch). Dataset: UCI Fisher Iris (Setosa vs. Versicolor).</dc:title>
</cp:coreProperties>
</file>